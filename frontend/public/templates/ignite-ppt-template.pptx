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1" r:id="rId5"/>
    <p:sldId id="262" r:id="rId6"/>
    <p:sldId id="264" r:id="rId7"/>
    <p:sldId id="265" r:id="rId8"/>
    <p:sldId id="266" r:id="rId9"/>
    <p:sldId id="260" r:id="rId10"/>
  </p:sldIdLst>
  <p:sldSz cx="18288000" cy="10287000"/>
  <p:notesSz cx="6858000" cy="9144000"/>
  <p:embeddedFontLst>
    <p:embeddedFont>
      <p:font typeface="Times New Roman Bold" panose="02020803070505020304" pitchFamily="18" charset="0"/>
      <p:regular r:id="rId12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2C8133-F674-4FAA-BAE7-21607D641E9C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8DDC69-D39F-4707-BF2F-FC067920C1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839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8DDC69-D39F-4707-BF2F-FC067920C1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76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34700" y="1097564"/>
            <a:ext cx="7653300" cy="7250444"/>
          </a:xfrm>
          <a:custGeom>
            <a:avLst/>
            <a:gdLst/>
            <a:ahLst/>
            <a:cxnLst/>
            <a:rect l="l" t="t" r="r" b="b"/>
            <a:pathLst>
              <a:path w="7653300" h="7250444">
                <a:moveTo>
                  <a:pt x="0" y="0"/>
                </a:moveTo>
                <a:lnTo>
                  <a:pt x="7653300" y="0"/>
                </a:lnTo>
                <a:lnTo>
                  <a:pt x="7653300" y="7250444"/>
                </a:lnTo>
                <a:lnTo>
                  <a:pt x="0" y="7250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508" t="-89494" r="-41650" b="-4165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0" y="1253555"/>
            <a:ext cx="11590579" cy="14823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8999" b="1" dirty="0">
                <a:solidFill>
                  <a:srgbClr val="43AE6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IGNITE -IDEATHON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90134" y="2771590"/>
            <a:ext cx="6610310" cy="1563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79"/>
              </a:lnSpc>
            </a:pPr>
            <a:r>
              <a:rPr lang="en-US" sz="8199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9600" y="4838700"/>
            <a:ext cx="11252479" cy="3763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22679" lvl="1" indent="-561340" algn="just">
              <a:lnSpc>
                <a:spcPts val="7279"/>
              </a:lnSpc>
              <a:buFont typeface="Arial"/>
              <a:buChar char="•"/>
            </a:pPr>
            <a:r>
              <a:rPr lang="en-US" sz="51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Name</a:t>
            </a:r>
          </a:p>
          <a:p>
            <a:pPr marL="1122679" lvl="1" indent="-561340" algn="just">
              <a:lnSpc>
                <a:spcPts val="7279"/>
              </a:lnSpc>
              <a:buFont typeface="Arial"/>
              <a:buChar char="•"/>
            </a:pPr>
            <a:r>
              <a:rPr lang="en-US" sz="51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College Name / Institution</a:t>
            </a:r>
          </a:p>
          <a:p>
            <a:pPr marL="1122679" lvl="1" indent="-561340" algn="just">
              <a:lnSpc>
                <a:spcPts val="7279"/>
              </a:lnSpc>
              <a:buFont typeface="Arial"/>
              <a:buChar char="•"/>
            </a:pPr>
            <a:r>
              <a:rPr lang="en-US" sz="519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Track</a:t>
            </a:r>
          </a:p>
          <a:p>
            <a:pPr algn="just">
              <a:lnSpc>
                <a:spcPts val="7279"/>
              </a:lnSpc>
            </a:pPr>
            <a:endParaRPr lang="en-US" sz="5199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5CC204-860D-8FCF-58FB-DE06445FFA7A}"/>
              </a:ext>
            </a:extLst>
          </p:cNvPr>
          <p:cNvSpPr txBox="1"/>
          <p:nvPr/>
        </p:nvSpPr>
        <p:spPr>
          <a:xfrm>
            <a:off x="11393530" y="8340634"/>
            <a:ext cx="61356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81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NOCTIVUS 2026</a:t>
            </a:r>
          </a:p>
          <a:p>
            <a:endParaRPr lang="en-IN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063229" y="1571430"/>
            <a:ext cx="3224771" cy="533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2400" b="1" dirty="0">
                <a:solidFill>
                  <a:srgbClr val="0081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NOCTIVUS’26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362200" y="1161221"/>
            <a:ext cx="11891165" cy="1354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8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8199" b="1" dirty="0">
              <a:solidFill>
                <a:schemeClr val="bg1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75565" y="2857500"/>
            <a:ext cx="12877800" cy="6771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IN" sz="44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Background / Context 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IN" sz="44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Problem Identification 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IN" sz="44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Existing Challenge / Gap 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IN" sz="44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Why does this problem need to be solved?</a:t>
            </a:r>
          </a:p>
          <a:p>
            <a:pPr marL="685800" lvl="0" indent="-685800">
              <a:buFont typeface="Arial" panose="020B0604020202020204" pitchFamily="34" charset="0"/>
              <a:buChar char="•"/>
            </a:pPr>
            <a:r>
              <a:rPr lang="en-IN" sz="4400" dirty="0">
                <a:solidFill>
                  <a:schemeClr val="bg1"/>
                </a:solidFill>
              </a:rPr>
              <a:t>Target Users / Beneficiaries — who is affected and how</a:t>
            </a:r>
            <a:endParaRPr lang="en-IN" sz="4400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  <a:p>
            <a:pPr lvl="0"/>
            <a:r>
              <a:rPr lang="en-IN" sz="4400" dirty="0">
                <a:solidFill>
                  <a:schemeClr val="bg1"/>
                </a:solidFill>
                <a:latin typeface="+mj-lt"/>
              </a:rPr>
              <a:t>Constraint: The problem must be specific, clearly defined and supported with relevant facts/data wherever possible.</a:t>
            </a:r>
            <a:r>
              <a:rPr lang="en-IN" sz="4400" dirty="0">
                <a:solidFill>
                  <a:schemeClr val="bg1"/>
                </a:solidFill>
              </a:rPr>
              <a:t> Identify specific users/beneficiaries affected by this problem. </a:t>
            </a:r>
            <a:endParaRPr lang="en-IN" sz="4400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6078200" y="480426"/>
            <a:ext cx="1272584" cy="127258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39923" y="0"/>
                  </a:moveTo>
                  <a:lnTo>
                    <a:pt x="672877" y="0"/>
                  </a:lnTo>
                  <a:cubicBezTo>
                    <a:pt x="750154" y="0"/>
                    <a:pt x="812800" y="62646"/>
                    <a:pt x="812800" y="139923"/>
                  </a:cubicBezTo>
                  <a:lnTo>
                    <a:pt x="812800" y="672877"/>
                  </a:lnTo>
                  <a:cubicBezTo>
                    <a:pt x="812800" y="750154"/>
                    <a:pt x="750154" y="812800"/>
                    <a:pt x="672877" y="812800"/>
                  </a:cubicBezTo>
                  <a:lnTo>
                    <a:pt x="139923" y="812800"/>
                  </a:lnTo>
                  <a:cubicBezTo>
                    <a:pt x="62646" y="812800"/>
                    <a:pt x="0" y="750154"/>
                    <a:pt x="0" y="672877"/>
                  </a:cubicBezTo>
                  <a:lnTo>
                    <a:pt x="0" y="139923"/>
                  </a:lnTo>
                  <a:cubicBezTo>
                    <a:pt x="0" y="62646"/>
                    <a:pt x="62646" y="0"/>
                    <a:pt x="139923" y="0"/>
                  </a:cubicBezTo>
                  <a:close/>
                </a:path>
              </a:pathLst>
            </a:custGeom>
            <a:blipFill>
              <a:blip r:embed="rId3"/>
              <a:stretch>
                <a:fillRect l="-38272" t="-66794" r="-33116" b="-32666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949706" y="1485900"/>
            <a:ext cx="3224771" cy="533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2400" b="1" dirty="0">
                <a:solidFill>
                  <a:srgbClr val="0081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NOCTIVUS’26</a:t>
            </a:r>
            <a:endParaRPr lang="en-US" sz="3399" b="1" dirty="0">
              <a:solidFill>
                <a:srgbClr val="0081CC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425464" y="992628"/>
            <a:ext cx="11891165" cy="1354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8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/ Idea</a:t>
            </a:r>
            <a:endParaRPr lang="en-US" sz="8199" b="1" dirty="0">
              <a:solidFill>
                <a:schemeClr val="bg1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698" y="3071006"/>
            <a:ext cx="14684699" cy="5416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dirty="0">
                <a:solidFill>
                  <a:schemeClr val="bg1"/>
                </a:solidFill>
              </a:rPr>
              <a:t>Proposed Solution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dirty="0">
                <a:solidFill>
                  <a:schemeClr val="bg1"/>
                </a:solidFill>
              </a:rPr>
              <a:t>Core Concept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dirty="0">
                <a:solidFill>
                  <a:schemeClr val="bg1"/>
                </a:solidFill>
              </a:rPr>
              <a:t>Key Features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dirty="0">
                <a:solidFill>
                  <a:schemeClr val="bg1"/>
                </a:solidFill>
              </a:rPr>
              <a:t>How the solution addresses the identified problem </a:t>
            </a:r>
          </a:p>
          <a:p>
            <a:pPr lvl="0"/>
            <a:endParaRPr lang="en-IN" sz="4400" dirty="0">
              <a:solidFill>
                <a:schemeClr val="bg1"/>
              </a:solidFill>
            </a:endParaRPr>
          </a:p>
          <a:p>
            <a:r>
              <a:rPr lang="en-IN" sz="4400" b="1" dirty="0">
                <a:solidFill>
                  <a:schemeClr val="bg1"/>
                </a:solidFill>
              </a:rPr>
              <a:t>Constraint:</a:t>
            </a:r>
            <a:r>
              <a:rPr lang="en-IN" sz="4400" dirty="0">
                <a:solidFill>
                  <a:schemeClr val="bg1"/>
                </a:solidFill>
              </a:rPr>
              <a:t> Clearly explain </a:t>
            </a:r>
            <a:r>
              <a:rPr lang="en-IN" sz="4400" b="1" dirty="0">
                <a:solidFill>
                  <a:schemeClr val="bg1"/>
                </a:solidFill>
              </a:rPr>
              <a:t>WHAT you are proposing and HOW it solves the problem. Avoid only describing an existing technology.</a:t>
            </a:r>
            <a:endParaRPr lang="en-IN" sz="4400" dirty="0">
              <a:solidFill>
                <a:schemeClr val="bg1"/>
              </a:solidFill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5925800" y="401410"/>
            <a:ext cx="1272584" cy="127258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39923" y="0"/>
                  </a:moveTo>
                  <a:lnTo>
                    <a:pt x="672877" y="0"/>
                  </a:lnTo>
                  <a:cubicBezTo>
                    <a:pt x="750154" y="0"/>
                    <a:pt x="812800" y="62646"/>
                    <a:pt x="812800" y="139923"/>
                  </a:cubicBezTo>
                  <a:lnTo>
                    <a:pt x="812800" y="672877"/>
                  </a:lnTo>
                  <a:cubicBezTo>
                    <a:pt x="812800" y="750154"/>
                    <a:pt x="750154" y="812800"/>
                    <a:pt x="672877" y="812800"/>
                  </a:cubicBezTo>
                  <a:lnTo>
                    <a:pt x="139923" y="812800"/>
                  </a:lnTo>
                  <a:cubicBezTo>
                    <a:pt x="62646" y="812800"/>
                    <a:pt x="0" y="750154"/>
                    <a:pt x="0" y="672877"/>
                  </a:cubicBezTo>
                  <a:lnTo>
                    <a:pt x="0" y="139923"/>
                  </a:lnTo>
                  <a:cubicBezTo>
                    <a:pt x="0" y="62646"/>
                    <a:pt x="62646" y="0"/>
                    <a:pt x="139923" y="0"/>
                  </a:cubicBezTo>
                  <a:close/>
                </a:path>
              </a:pathLst>
            </a:custGeom>
            <a:blipFill>
              <a:blip r:embed="rId2"/>
              <a:stretch>
                <a:fillRect l="-38272" t="-66794" r="-33116" b="-32666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F6FBB7-6AA5-18B5-5B2B-C1D84E9C8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964D91A-A113-924E-381A-DE27719C7747}"/>
              </a:ext>
            </a:extLst>
          </p:cNvPr>
          <p:cNvSpPr txBox="1"/>
          <p:nvPr/>
        </p:nvSpPr>
        <p:spPr>
          <a:xfrm>
            <a:off x="14949706" y="1485900"/>
            <a:ext cx="3224771" cy="533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2400" b="1" dirty="0">
                <a:solidFill>
                  <a:srgbClr val="0081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NOCTIVUS’26</a:t>
            </a:r>
            <a:endParaRPr lang="en-US" sz="3399" b="1" dirty="0">
              <a:solidFill>
                <a:srgbClr val="0081CC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7FBF4EF-5C2C-EA37-0F24-9B5213C18681}"/>
              </a:ext>
            </a:extLst>
          </p:cNvPr>
          <p:cNvSpPr txBox="1"/>
          <p:nvPr/>
        </p:nvSpPr>
        <p:spPr>
          <a:xfrm>
            <a:off x="2425464" y="992628"/>
            <a:ext cx="11891165" cy="1354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8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endParaRPr lang="en-US" sz="8199" b="1" dirty="0">
              <a:solidFill>
                <a:schemeClr val="bg1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20811E9-DC25-4952-E4F6-1BA11E92E587}"/>
              </a:ext>
            </a:extLst>
          </p:cNvPr>
          <p:cNvSpPr txBox="1"/>
          <p:nvPr/>
        </p:nvSpPr>
        <p:spPr>
          <a:xfrm>
            <a:off x="1028698" y="3071006"/>
            <a:ext cx="14684699" cy="4739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Working Process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System / Architecture Diagram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Workflow / Flowchart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Input → Processing → Output </a:t>
            </a:r>
          </a:p>
          <a:p>
            <a:pPr lvl="0"/>
            <a:endParaRPr lang="en-IN" sz="4400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IN" sz="44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Constraint: A diagram/flowchart is mandatory. The working process should be understandable without lengthy text.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DC9026D5-2B64-438C-14BA-05A8D63C28E0}"/>
              </a:ext>
            </a:extLst>
          </p:cNvPr>
          <p:cNvGrpSpPr/>
          <p:nvPr/>
        </p:nvGrpSpPr>
        <p:grpSpPr>
          <a:xfrm>
            <a:off x="15925800" y="401410"/>
            <a:ext cx="1272584" cy="1272584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B6789BB-7E60-2F8B-1EB9-1663A577553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39923" y="0"/>
                  </a:moveTo>
                  <a:lnTo>
                    <a:pt x="672877" y="0"/>
                  </a:lnTo>
                  <a:cubicBezTo>
                    <a:pt x="750154" y="0"/>
                    <a:pt x="812800" y="62646"/>
                    <a:pt x="812800" y="139923"/>
                  </a:cubicBezTo>
                  <a:lnTo>
                    <a:pt x="812800" y="672877"/>
                  </a:lnTo>
                  <a:cubicBezTo>
                    <a:pt x="812800" y="750154"/>
                    <a:pt x="750154" y="812800"/>
                    <a:pt x="672877" y="812800"/>
                  </a:cubicBezTo>
                  <a:lnTo>
                    <a:pt x="139923" y="812800"/>
                  </a:lnTo>
                  <a:cubicBezTo>
                    <a:pt x="62646" y="812800"/>
                    <a:pt x="0" y="750154"/>
                    <a:pt x="0" y="672877"/>
                  </a:cubicBezTo>
                  <a:lnTo>
                    <a:pt x="0" y="139923"/>
                  </a:lnTo>
                  <a:cubicBezTo>
                    <a:pt x="0" y="62646"/>
                    <a:pt x="62646" y="0"/>
                    <a:pt x="139923" y="0"/>
                  </a:cubicBezTo>
                  <a:close/>
                </a:path>
              </a:pathLst>
            </a:custGeom>
            <a:blipFill>
              <a:blip r:embed="rId2"/>
              <a:stretch>
                <a:fillRect l="-38272" t="-66794" r="-33116" b="-32666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435944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276CD9-7DDF-09B7-4187-6024C7FA4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4E4CD9B-D28A-535E-3F37-587CC6534210}"/>
              </a:ext>
            </a:extLst>
          </p:cNvPr>
          <p:cNvSpPr txBox="1"/>
          <p:nvPr/>
        </p:nvSpPr>
        <p:spPr>
          <a:xfrm>
            <a:off x="14949706" y="1485900"/>
            <a:ext cx="3224771" cy="533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2400" b="1" dirty="0">
                <a:solidFill>
                  <a:srgbClr val="0081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NOCTIVUS’26</a:t>
            </a:r>
            <a:endParaRPr lang="en-US" sz="3399" b="1" dirty="0">
              <a:solidFill>
                <a:srgbClr val="0081CC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49041C9-D22A-DE75-6D92-FFC2A3E2BFBB}"/>
              </a:ext>
            </a:extLst>
          </p:cNvPr>
          <p:cNvSpPr txBox="1"/>
          <p:nvPr/>
        </p:nvSpPr>
        <p:spPr>
          <a:xfrm>
            <a:off x="2425464" y="992628"/>
            <a:ext cx="11891165" cy="1354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8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Uniqueness / Innovation</a:t>
            </a:r>
            <a:endParaRPr lang="en-US" sz="8199" b="1" dirty="0">
              <a:solidFill>
                <a:schemeClr val="bg1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89726B9-5610-D8CE-D57B-102E539D7417}"/>
              </a:ext>
            </a:extLst>
          </p:cNvPr>
          <p:cNvSpPr txBox="1"/>
          <p:nvPr/>
        </p:nvSpPr>
        <p:spPr>
          <a:xfrm>
            <a:off x="1028698" y="3071006"/>
            <a:ext cx="14684699" cy="5416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dirty="0">
                <a:solidFill>
                  <a:schemeClr val="bg1"/>
                </a:solidFill>
              </a:rPr>
              <a:t>Existing Solutions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dirty="0">
                <a:solidFill>
                  <a:schemeClr val="bg1"/>
                </a:solidFill>
              </a:rPr>
              <a:t>Limitations of Existing Solutions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dirty="0">
                <a:solidFill>
                  <a:schemeClr val="bg1"/>
                </a:solidFill>
              </a:rPr>
              <a:t>Proposed Innovation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dirty="0">
                <a:solidFill>
                  <a:schemeClr val="bg1"/>
                </a:solidFill>
              </a:rPr>
              <a:t>Key Differentiating Features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IN" sz="4400" dirty="0">
              <a:solidFill>
                <a:schemeClr val="bg1"/>
              </a:solidFill>
            </a:endParaRPr>
          </a:p>
          <a:p>
            <a:r>
              <a:rPr lang="en-IN" sz="4400" b="1" dirty="0">
                <a:solidFill>
                  <a:schemeClr val="bg1"/>
                </a:solidFill>
              </a:rPr>
              <a:t>Constraint:</a:t>
            </a:r>
            <a:r>
              <a:rPr lang="en-IN" sz="4400" dirty="0">
                <a:solidFill>
                  <a:schemeClr val="bg1"/>
                </a:solidFill>
              </a:rPr>
              <a:t> Clearly mention </a:t>
            </a:r>
            <a:r>
              <a:rPr lang="en-IN" sz="4400" b="1" dirty="0">
                <a:solidFill>
                  <a:schemeClr val="bg1"/>
                </a:solidFill>
              </a:rPr>
              <a:t>what is new or improved</a:t>
            </a:r>
            <a:r>
              <a:rPr lang="en-IN" sz="4400" dirty="0">
                <a:solidFill>
                  <a:schemeClr val="bg1"/>
                </a:solidFill>
              </a:rPr>
              <a:t> in your idea. Simply combining existing technologies will not be considered sufficient unless there is a meaningful innovation.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3DE76352-B0C9-CD3F-3BB0-AC45B0B5DC41}"/>
              </a:ext>
            </a:extLst>
          </p:cNvPr>
          <p:cNvGrpSpPr/>
          <p:nvPr/>
        </p:nvGrpSpPr>
        <p:grpSpPr>
          <a:xfrm>
            <a:off x="15925800" y="401410"/>
            <a:ext cx="1272584" cy="1272584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6F32815-DD36-7C12-7B7A-CD55A70F086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39923" y="0"/>
                  </a:moveTo>
                  <a:lnTo>
                    <a:pt x="672877" y="0"/>
                  </a:lnTo>
                  <a:cubicBezTo>
                    <a:pt x="750154" y="0"/>
                    <a:pt x="812800" y="62646"/>
                    <a:pt x="812800" y="139923"/>
                  </a:cubicBezTo>
                  <a:lnTo>
                    <a:pt x="812800" y="672877"/>
                  </a:lnTo>
                  <a:cubicBezTo>
                    <a:pt x="812800" y="750154"/>
                    <a:pt x="750154" y="812800"/>
                    <a:pt x="672877" y="812800"/>
                  </a:cubicBezTo>
                  <a:lnTo>
                    <a:pt x="139923" y="812800"/>
                  </a:lnTo>
                  <a:cubicBezTo>
                    <a:pt x="62646" y="812800"/>
                    <a:pt x="0" y="750154"/>
                    <a:pt x="0" y="672877"/>
                  </a:cubicBezTo>
                  <a:lnTo>
                    <a:pt x="0" y="139923"/>
                  </a:lnTo>
                  <a:cubicBezTo>
                    <a:pt x="0" y="62646"/>
                    <a:pt x="62646" y="0"/>
                    <a:pt x="139923" y="0"/>
                  </a:cubicBezTo>
                  <a:close/>
                </a:path>
              </a:pathLst>
            </a:custGeom>
            <a:blipFill>
              <a:blip r:embed="rId2"/>
              <a:stretch>
                <a:fillRect l="-38272" t="-66794" r="-33116" b="-32666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514054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DD2B50-FF55-0EE5-7D8F-28ADC264C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22C507B-885A-3A1C-821F-95C4B2FC0CC1}"/>
              </a:ext>
            </a:extLst>
          </p:cNvPr>
          <p:cNvSpPr txBox="1"/>
          <p:nvPr/>
        </p:nvSpPr>
        <p:spPr>
          <a:xfrm>
            <a:off x="14949706" y="1485900"/>
            <a:ext cx="3224771" cy="533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2400" b="1" dirty="0">
                <a:solidFill>
                  <a:srgbClr val="0081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NOCTIVUS’26</a:t>
            </a:r>
            <a:endParaRPr lang="en-US" sz="3399" b="1" dirty="0">
              <a:solidFill>
                <a:srgbClr val="0081CC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473B027-6B32-9F3C-58A0-59DD06265C58}"/>
              </a:ext>
            </a:extLst>
          </p:cNvPr>
          <p:cNvSpPr txBox="1"/>
          <p:nvPr/>
        </p:nvSpPr>
        <p:spPr>
          <a:xfrm>
            <a:off x="2425464" y="992628"/>
            <a:ext cx="11891165" cy="2615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IN" sz="8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/ Tools Used</a:t>
            </a:r>
          </a:p>
          <a:p>
            <a:pPr algn="ctr">
              <a:lnSpc>
                <a:spcPct val="100000"/>
              </a:lnSpc>
            </a:pPr>
            <a:endParaRPr lang="en-US" sz="8199" b="1" dirty="0">
              <a:solidFill>
                <a:schemeClr val="bg1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20C2B5B-A239-390F-3EC6-86437C44C329}"/>
              </a:ext>
            </a:extLst>
          </p:cNvPr>
          <p:cNvSpPr txBox="1"/>
          <p:nvPr/>
        </p:nvSpPr>
        <p:spPr>
          <a:xfrm>
            <a:off x="1028698" y="3071006"/>
            <a:ext cx="14684699" cy="6093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dirty="0">
                <a:solidFill>
                  <a:schemeClr val="bg1"/>
                </a:solidFill>
              </a:rPr>
              <a:t>Programming Languages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dirty="0">
                <a:solidFill>
                  <a:schemeClr val="bg1"/>
                </a:solidFill>
              </a:rPr>
              <a:t>Frameworks / Libraries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dirty="0">
                <a:solidFill>
                  <a:schemeClr val="bg1"/>
                </a:solidFill>
              </a:rPr>
              <a:t>AI/ML Models, if applicable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dirty="0">
                <a:solidFill>
                  <a:schemeClr val="bg1"/>
                </a:solidFill>
              </a:rPr>
              <a:t>Cybersecurity Tools / Technologies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dirty="0">
                <a:solidFill>
                  <a:schemeClr val="bg1"/>
                </a:solidFill>
              </a:rPr>
              <a:t>Hardware / Cloud / Database, if applicable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IN" sz="4400" dirty="0">
              <a:solidFill>
                <a:schemeClr val="bg1"/>
              </a:solidFill>
            </a:endParaRPr>
          </a:p>
          <a:p>
            <a:r>
              <a:rPr lang="en-IN" sz="4400" b="1" dirty="0">
                <a:solidFill>
                  <a:schemeClr val="bg1"/>
                </a:solidFill>
              </a:rPr>
              <a:t>Constraint:</a:t>
            </a:r>
            <a:r>
              <a:rPr lang="en-IN" sz="4400" dirty="0">
                <a:solidFill>
                  <a:schemeClr val="bg1"/>
                </a:solidFill>
              </a:rPr>
              <a:t> Mention only technologies that are </a:t>
            </a:r>
            <a:r>
              <a:rPr lang="en-IN" sz="4400" b="1" dirty="0">
                <a:solidFill>
                  <a:schemeClr val="bg1"/>
                </a:solidFill>
              </a:rPr>
              <a:t>actually required or planned for implementation</a:t>
            </a:r>
            <a:r>
              <a:rPr lang="en-IN" sz="4400" dirty="0">
                <a:solidFill>
                  <a:schemeClr val="bg1"/>
                </a:solidFill>
              </a:rPr>
              <a:t>. Briefly justify the choice of major technologies.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174B58A-2766-77B0-C487-1BD2279C6DAC}"/>
              </a:ext>
            </a:extLst>
          </p:cNvPr>
          <p:cNvGrpSpPr/>
          <p:nvPr/>
        </p:nvGrpSpPr>
        <p:grpSpPr>
          <a:xfrm>
            <a:off x="15925800" y="401410"/>
            <a:ext cx="1272584" cy="1272584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3A3B006-43E2-23BC-731A-B93E95B5AAD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39923" y="0"/>
                  </a:moveTo>
                  <a:lnTo>
                    <a:pt x="672877" y="0"/>
                  </a:lnTo>
                  <a:cubicBezTo>
                    <a:pt x="750154" y="0"/>
                    <a:pt x="812800" y="62646"/>
                    <a:pt x="812800" y="139923"/>
                  </a:cubicBezTo>
                  <a:lnTo>
                    <a:pt x="812800" y="672877"/>
                  </a:lnTo>
                  <a:cubicBezTo>
                    <a:pt x="812800" y="750154"/>
                    <a:pt x="750154" y="812800"/>
                    <a:pt x="672877" y="812800"/>
                  </a:cubicBezTo>
                  <a:lnTo>
                    <a:pt x="139923" y="812800"/>
                  </a:lnTo>
                  <a:cubicBezTo>
                    <a:pt x="62646" y="812800"/>
                    <a:pt x="0" y="750154"/>
                    <a:pt x="0" y="672877"/>
                  </a:cubicBezTo>
                  <a:lnTo>
                    <a:pt x="0" y="139923"/>
                  </a:lnTo>
                  <a:cubicBezTo>
                    <a:pt x="0" y="62646"/>
                    <a:pt x="62646" y="0"/>
                    <a:pt x="139923" y="0"/>
                  </a:cubicBezTo>
                  <a:close/>
                </a:path>
              </a:pathLst>
            </a:custGeom>
            <a:blipFill>
              <a:blip r:embed="rId2"/>
              <a:stretch>
                <a:fillRect l="-38272" t="-66794" r="-33116" b="-32666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875609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14388B-32C1-104A-F436-437CCAD6B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34BD13C-76FE-1CDD-AF24-57354018621B}"/>
              </a:ext>
            </a:extLst>
          </p:cNvPr>
          <p:cNvSpPr txBox="1"/>
          <p:nvPr/>
        </p:nvSpPr>
        <p:spPr>
          <a:xfrm>
            <a:off x="14949706" y="1485900"/>
            <a:ext cx="3224771" cy="533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2400" b="1" dirty="0">
                <a:solidFill>
                  <a:srgbClr val="0081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NOCTIVUS’26</a:t>
            </a:r>
            <a:endParaRPr lang="en-US" sz="3399" b="1" dirty="0">
              <a:solidFill>
                <a:srgbClr val="0081CC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6DA3F0D-DCFA-F025-A8B9-B345BC789F71}"/>
              </a:ext>
            </a:extLst>
          </p:cNvPr>
          <p:cNvSpPr txBox="1"/>
          <p:nvPr/>
        </p:nvSpPr>
        <p:spPr>
          <a:xfrm>
            <a:off x="1061542" y="911704"/>
            <a:ext cx="14684699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7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Plan / Proof of Concept</a:t>
            </a:r>
            <a:endParaRPr lang="en-US" sz="7200" b="1" dirty="0">
              <a:solidFill>
                <a:schemeClr val="bg1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A3232DC-BC70-1489-AD8B-4024926A390E}"/>
              </a:ext>
            </a:extLst>
          </p:cNvPr>
          <p:cNvSpPr txBox="1"/>
          <p:nvPr/>
        </p:nvSpPr>
        <p:spPr>
          <a:xfrm>
            <a:off x="1241101" y="3281320"/>
            <a:ext cx="16208699" cy="66479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Prototype / Working Model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Implementation Steps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System Architecture / Module Design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Testing / Experimental Setup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Screenshots / Demo Results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Implementation Roadmap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IN" sz="3600" dirty="0">
              <a:solidFill>
                <a:schemeClr val="bg1"/>
              </a:solidFill>
            </a:endParaRPr>
          </a:p>
          <a:p>
            <a:r>
              <a:rPr lang="en-IN" sz="3600" b="1" dirty="0">
                <a:solidFill>
                  <a:schemeClr val="bg1"/>
                </a:solidFill>
              </a:rPr>
              <a:t>Constraint: MANDATORY.</a:t>
            </a:r>
            <a:r>
              <a:rPr lang="en-IN" sz="3600" dirty="0">
                <a:solidFill>
                  <a:schemeClr val="bg1"/>
                </a:solidFill>
              </a:rPr>
              <a:t> Participants must provide </a:t>
            </a:r>
            <a:r>
              <a:rPr lang="en-IN" sz="3600" b="1" dirty="0">
                <a:solidFill>
                  <a:schemeClr val="bg1"/>
                </a:solidFill>
              </a:rPr>
              <a:t>at least one of the following:</a:t>
            </a:r>
            <a:br>
              <a:rPr lang="en-IN" sz="3600" dirty="0">
                <a:solidFill>
                  <a:schemeClr val="bg1"/>
                </a:solidFill>
              </a:rPr>
            </a:br>
            <a:r>
              <a:rPr lang="en-IN" sz="3600" b="1" dirty="0">
                <a:solidFill>
                  <a:schemeClr val="bg1"/>
                </a:solidFill>
              </a:rPr>
              <a:t>Prototype / Working Demo / Experimental Result / Prototype Screenshots / Technical Implementation / Detailed Implementation Roadmap.</a:t>
            </a:r>
          </a:p>
          <a:p>
            <a:endParaRPr lang="en-IN" sz="3600" dirty="0">
              <a:solidFill>
                <a:schemeClr val="bg1"/>
              </a:solidFill>
            </a:endParaRPr>
          </a:p>
          <a:p>
            <a:r>
              <a:rPr lang="en-IN" sz="3600" b="1" dirty="0">
                <a:solidFill>
                  <a:schemeClr val="bg1"/>
                </a:solidFill>
              </a:rPr>
              <a:t>Important:</a:t>
            </a:r>
            <a:r>
              <a:rPr lang="en-IN" sz="3600" dirty="0">
                <a:solidFill>
                  <a:schemeClr val="bg1"/>
                </a:solidFill>
              </a:rPr>
              <a:t> A concept alone is not sufficient for this slide.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5131BB09-3561-B25F-6514-21DD5C705EB8}"/>
              </a:ext>
            </a:extLst>
          </p:cNvPr>
          <p:cNvGrpSpPr/>
          <p:nvPr/>
        </p:nvGrpSpPr>
        <p:grpSpPr>
          <a:xfrm>
            <a:off x="15925800" y="401410"/>
            <a:ext cx="1272584" cy="1272584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6E76F21-2CC1-9533-B601-F3A29983F42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39923" y="0"/>
                  </a:moveTo>
                  <a:lnTo>
                    <a:pt x="672877" y="0"/>
                  </a:lnTo>
                  <a:cubicBezTo>
                    <a:pt x="750154" y="0"/>
                    <a:pt x="812800" y="62646"/>
                    <a:pt x="812800" y="139923"/>
                  </a:cubicBezTo>
                  <a:lnTo>
                    <a:pt x="812800" y="672877"/>
                  </a:lnTo>
                  <a:cubicBezTo>
                    <a:pt x="812800" y="750154"/>
                    <a:pt x="750154" y="812800"/>
                    <a:pt x="672877" y="812800"/>
                  </a:cubicBezTo>
                  <a:lnTo>
                    <a:pt x="139923" y="812800"/>
                  </a:lnTo>
                  <a:cubicBezTo>
                    <a:pt x="62646" y="812800"/>
                    <a:pt x="0" y="750154"/>
                    <a:pt x="0" y="672877"/>
                  </a:cubicBezTo>
                  <a:lnTo>
                    <a:pt x="0" y="139923"/>
                  </a:lnTo>
                  <a:cubicBezTo>
                    <a:pt x="0" y="62646"/>
                    <a:pt x="62646" y="0"/>
                    <a:pt x="139923" y="0"/>
                  </a:cubicBezTo>
                  <a:close/>
                </a:path>
              </a:pathLst>
            </a:custGeom>
            <a:blipFill>
              <a:blip r:embed="rId2"/>
              <a:stretch>
                <a:fillRect l="-38272" t="-66794" r="-33116" b="-32666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602244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9990D3-CA75-460A-3683-4D664F20A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F9FD95B-8BA4-6E6D-1C38-12415BFF251E}"/>
              </a:ext>
            </a:extLst>
          </p:cNvPr>
          <p:cNvSpPr txBox="1"/>
          <p:nvPr/>
        </p:nvSpPr>
        <p:spPr>
          <a:xfrm>
            <a:off x="14949706" y="1485900"/>
            <a:ext cx="3224771" cy="533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2400" b="1" dirty="0">
                <a:solidFill>
                  <a:srgbClr val="0081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NOCTIVUS’26</a:t>
            </a:r>
            <a:endParaRPr lang="en-US" sz="3399" b="1" dirty="0">
              <a:solidFill>
                <a:srgbClr val="0081CC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E875BF9-3464-0725-6646-5C6FC7012E59}"/>
              </a:ext>
            </a:extLst>
          </p:cNvPr>
          <p:cNvSpPr txBox="1"/>
          <p:nvPr/>
        </p:nvSpPr>
        <p:spPr>
          <a:xfrm>
            <a:off x="2425464" y="992628"/>
            <a:ext cx="11891165" cy="1354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IN" sz="8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&amp; Impact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295855D-3A16-B035-7438-B1B70AB60854}"/>
              </a:ext>
            </a:extLst>
          </p:cNvPr>
          <p:cNvSpPr txBox="1"/>
          <p:nvPr/>
        </p:nvSpPr>
        <p:spPr>
          <a:xfrm>
            <a:off x="1028698" y="3071006"/>
            <a:ext cx="14684699" cy="6771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dirty="0">
                <a:solidFill>
                  <a:schemeClr val="bg1"/>
                </a:solidFill>
              </a:rPr>
              <a:t>Technical Feasibility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dirty="0">
                <a:solidFill>
                  <a:schemeClr val="bg1"/>
                </a:solidFill>
              </a:rPr>
              <a:t>Cost / Resource Feasibility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dirty="0">
                <a:solidFill>
                  <a:schemeClr val="bg1"/>
                </a:solidFill>
              </a:rPr>
              <a:t>Scalability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dirty="0">
                <a:solidFill>
                  <a:schemeClr val="bg1"/>
                </a:solidFill>
              </a:rPr>
              <a:t>Security / Reliability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dirty="0">
                <a:solidFill>
                  <a:schemeClr val="bg1"/>
                </a:solidFill>
              </a:rPr>
              <a:t>Social / Industrial Impact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sz="4400" dirty="0">
                <a:solidFill>
                  <a:schemeClr val="bg1"/>
                </a:solidFill>
              </a:rPr>
              <a:t>Expected Benefits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IN" sz="4400" dirty="0">
              <a:solidFill>
                <a:schemeClr val="bg1"/>
              </a:solidFill>
            </a:endParaRPr>
          </a:p>
          <a:p>
            <a:r>
              <a:rPr lang="en-IN" sz="4400" b="1" dirty="0">
                <a:solidFill>
                  <a:schemeClr val="bg1"/>
                </a:solidFill>
              </a:rPr>
              <a:t>Constraint:</a:t>
            </a:r>
            <a:r>
              <a:rPr lang="en-IN" sz="4400" dirty="0">
                <a:solidFill>
                  <a:schemeClr val="bg1"/>
                </a:solidFill>
              </a:rPr>
              <a:t> Explain whether the idea is </a:t>
            </a:r>
            <a:r>
              <a:rPr lang="en-IN" sz="4400" b="1" dirty="0">
                <a:solidFill>
                  <a:schemeClr val="bg1"/>
                </a:solidFill>
              </a:rPr>
              <a:t>practically implementable</a:t>
            </a:r>
            <a:r>
              <a:rPr lang="en-IN" sz="4400" dirty="0">
                <a:solidFill>
                  <a:schemeClr val="bg1"/>
                </a:solidFill>
              </a:rPr>
              <a:t>, not just theoretically possible. Mention major limitations or challenges if applicable.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D4B0E6E0-08BF-1DD4-593F-4BC5599FBD47}"/>
              </a:ext>
            </a:extLst>
          </p:cNvPr>
          <p:cNvGrpSpPr/>
          <p:nvPr/>
        </p:nvGrpSpPr>
        <p:grpSpPr>
          <a:xfrm>
            <a:off x="15925800" y="401410"/>
            <a:ext cx="1272584" cy="1272584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970DA30-6FB9-F787-6568-40BD591B741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39923" y="0"/>
                  </a:moveTo>
                  <a:lnTo>
                    <a:pt x="672877" y="0"/>
                  </a:lnTo>
                  <a:cubicBezTo>
                    <a:pt x="750154" y="0"/>
                    <a:pt x="812800" y="62646"/>
                    <a:pt x="812800" y="139923"/>
                  </a:cubicBezTo>
                  <a:lnTo>
                    <a:pt x="812800" y="672877"/>
                  </a:lnTo>
                  <a:cubicBezTo>
                    <a:pt x="812800" y="750154"/>
                    <a:pt x="750154" y="812800"/>
                    <a:pt x="672877" y="812800"/>
                  </a:cubicBezTo>
                  <a:lnTo>
                    <a:pt x="139923" y="812800"/>
                  </a:lnTo>
                  <a:cubicBezTo>
                    <a:pt x="62646" y="812800"/>
                    <a:pt x="0" y="750154"/>
                    <a:pt x="0" y="672877"/>
                  </a:cubicBezTo>
                  <a:lnTo>
                    <a:pt x="0" y="139923"/>
                  </a:lnTo>
                  <a:cubicBezTo>
                    <a:pt x="0" y="62646"/>
                    <a:pt x="62646" y="0"/>
                    <a:pt x="139923" y="0"/>
                  </a:cubicBezTo>
                  <a:close/>
                </a:path>
              </a:pathLst>
            </a:custGeom>
            <a:blipFill>
              <a:blip r:embed="rId2"/>
              <a:stretch>
                <a:fillRect l="-38272" t="-66794" r="-33116" b="-32666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678253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667937" y="2095500"/>
            <a:ext cx="12952125" cy="13525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80"/>
              </a:lnSpc>
            </a:pPr>
            <a:endParaRPr lang="en-US" sz="8200" b="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90600" y="4152900"/>
            <a:ext cx="13217010" cy="858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22679" lvl="1" indent="-561340" algn="just">
              <a:lnSpc>
                <a:spcPts val="7279"/>
              </a:lnSpc>
              <a:buFont typeface="Arial"/>
              <a:buChar char="•"/>
            </a:pPr>
            <a:endParaRPr lang="en-US" sz="5199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5105400" y="495300"/>
            <a:ext cx="8534402" cy="802320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39923" y="0"/>
                  </a:moveTo>
                  <a:lnTo>
                    <a:pt x="672877" y="0"/>
                  </a:lnTo>
                  <a:cubicBezTo>
                    <a:pt x="750154" y="0"/>
                    <a:pt x="812800" y="62646"/>
                    <a:pt x="812800" y="139923"/>
                  </a:cubicBezTo>
                  <a:lnTo>
                    <a:pt x="812800" y="672877"/>
                  </a:lnTo>
                  <a:cubicBezTo>
                    <a:pt x="812800" y="750154"/>
                    <a:pt x="750154" y="812800"/>
                    <a:pt x="672877" y="812800"/>
                  </a:cubicBezTo>
                  <a:lnTo>
                    <a:pt x="139923" y="812800"/>
                  </a:lnTo>
                  <a:cubicBezTo>
                    <a:pt x="62646" y="812800"/>
                    <a:pt x="0" y="750154"/>
                    <a:pt x="0" y="672877"/>
                  </a:cubicBezTo>
                  <a:lnTo>
                    <a:pt x="0" y="139923"/>
                  </a:lnTo>
                  <a:cubicBezTo>
                    <a:pt x="0" y="62646"/>
                    <a:pt x="62646" y="0"/>
                    <a:pt x="139923" y="0"/>
                  </a:cubicBezTo>
                  <a:close/>
                </a:path>
              </a:pathLst>
            </a:custGeom>
            <a:blipFill>
              <a:blip r:embed="rId2"/>
              <a:stretch>
                <a:fillRect l="-38272" t="-66794" r="-33116" b="-32666"/>
              </a:stretch>
            </a:blipFill>
          </p:spPr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A8AF224-8A29-16BF-69EB-9F47992B9EFE}"/>
              </a:ext>
            </a:extLst>
          </p:cNvPr>
          <p:cNvSpPr txBox="1"/>
          <p:nvPr/>
        </p:nvSpPr>
        <p:spPr>
          <a:xfrm>
            <a:off x="6463279" y="8435982"/>
            <a:ext cx="58186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7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</TotalTime>
  <Words>367</Words>
  <Application>Microsoft Office PowerPoint</Application>
  <PresentationFormat>Custom</PresentationFormat>
  <Paragraphs>71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Times New Roman</vt:lpstr>
      <vt:lpstr>Arial</vt:lpstr>
      <vt:lpstr>Times New Roman Bold</vt:lpstr>
      <vt:lpstr>Aptos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</dc:title>
  <dc:creator>sri</dc:creator>
  <cp:lastModifiedBy>sri r</cp:lastModifiedBy>
  <cp:revision>5</cp:revision>
  <dcterms:created xsi:type="dcterms:W3CDTF">2006-08-16T00:00:00Z</dcterms:created>
  <dcterms:modified xsi:type="dcterms:W3CDTF">2026-09-02T01:19:48Z</dcterms:modified>
  <dc:identifier>DAGsZCEh2MI</dc:identifier>
</cp:coreProperties>
</file>